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8" r:id="rId3"/>
    <p:sldId id="259" r:id="rId4"/>
    <p:sldId id="260" r:id="rId5"/>
    <p:sldId id="261" r:id="rId6"/>
    <p:sldId id="265" r:id="rId7"/>
    <p:sldId id="263" r:id="rId8"/>
    <p:sldId id="266" r:id="rId9"/>
    <p:sldId id="269" r:id="rId10"/>
    <p:sldId id="267" r:id="rId11"/>
    <p:sldId id="268" r:id="rId12"/>
    <p:sldId id="264" r:id="rId13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hann Verdi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702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6-10-27T16:41:22.323" idx="1">
    <p:pos x="5760" y="-30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658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9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794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55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308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48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7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8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85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463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8986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5601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3497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53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34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7030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4882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1072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90290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2102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7585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09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483F1-7398-634F-AA92-2618DEE1C6C8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82D18-0798-884A-A7AF-41F03814F2AB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 descr="presentacion.jpg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" r="3049"/>
          <a:stretch/>
        </p:blipFill>
        <p:spPr>
          <a:xfrm>
            <a:off x="0" y="-47791"/>
            <a:ext cx="9144000" cy="690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2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670EA-0905-814D-82A4-C0E08E704640}" type="datetimeFigureOut">
              <a:rPr lang="es-ES" smtClean="0"/>
              <a:t>29/04/2021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F8DE9-8C27-5C4D-A791-C3AA3EAE88D8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 descr="presenta1.jpg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2" r="2484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domiciliaciones.pago@bicentenariobu.com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domiciliaciones.pago@bicentenariobu.com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domiciliaciones.pago@bicentenariobu.com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karina.salas@bicentenariobu.com" TargetMode="External"/><Relationship Id="rId7" Type="http://schemas.openxmlformats.org/officeDocument/2006/relationships/hyperlink" Target="mailto:domiciliaciones.pago@bicentenariobu.com" TargetMode="External"/><Relationship Id="rId2" Type="http://schemas.openxmlformats.org/officeDocument/2006/relationships/hyperlink" Target="mailto:jose.chirinos@bicentenariobu.com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jesus.clemente@bicentenariobu.com" TargetMode="External"/><Relationship Id="rId5" Type="http://schemas.openxmlformats.org/officeDocument/2006/relationships/hyperlink" Target="mailto:servicios.nominas@bicentenariobu.com" TargetMode="External"/><Relationship Id="rId4" Type="http://schemas.openxmlformats.org/officeDocument/2006/relationships/hyperlink" Target="mailto:maria.santaella@bicentenariobu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3952001" y="2660049"/>
            <a:ext cx="1550418" cy="1117318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>
                <a:solidFill>
                  <a:schemeClr val="bg1"/>
                </a:solidFill>
              </a:rPr>
              <a:t>TITULO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5"/>
          <p:cNvSpPr txBox="1">
            <a:spLocks/>
          </p:cNvSpPr>
          <p:nvPr/>
        </p:nvSpPr>
        <p:spPr>
          <a:xfrm>
            <a:off x="7303582" y="5740682"/>
            <a:ext cx="1550418" cy="1117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ES" dirty="0" smtClean="0">
                <a:solidFill>
                  <a:schemeClr val="bg1"/>
                </a:solidFill>
              </a:rPr>
              <a:t>Fecha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4" name="Imagen 3" descr="presentacion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" r="3049"/>
          <a:stretch/>
        </p:blipFill>
        <p:spPr>
          <a:xfrm>
            <a:off x="0" y="-47791"/>
            <a:ext cx="9144000" cy="6905791"/>
          </a:xfrm>
          <a:prstGeom prst="rect">
            <a:avLst/>
          </a:prstGeom>
        </p:spPr>
      </p:pic>
      <p:sp>
        <p:nvSpPr>
          <p:cNvPr id="8" name="CuadroTexto 1"/>
          <p:cNvSpPr txBox="1">
            <a:spLocks noChangeArrowheads="1"/>
          </p:cNvSpPr>
          <p:nvPr/>
        </p:nvSpPr>
        <p:spPr bwMode="auto">
          <a:xfrm>
            <a:off x="1254235" y="4608264"/>
            <a:ext cx="67627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lvl="0" algn="ctr" defTabSz="914400" eaLnBrk="1" hangingPunct="1">
              <a:defRPr/>
            </a:pPr>
            <a:r>
              <a:rPr lang="es-MX" sz="2800" kern="0" dirty="0">
                <a:solidFill>
                  <a:schemeClr val="bg1"/>
                </a:solidFill>
                <a:latin typeface="Arial Black" pitchFamily="34" charset="0"/>
              </a:rPr>
              <a:t>OFERTA DE SERVICIO PAGOS DOMICILIADOS</a:t>
            </a:r>
            <a:endParaRPr lang="es-VE" sz="2800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465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diversos-gente-y-trabajadores-thumb51689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312519"/>
            <a:ext cx="3097213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1 Rectángulo"/>
          <p:cNvSpPr>
            <a:spLocks noChangeArrowheads="1"/>
          </p:cNvSpPr>
          <p:nvPr/>
        </p:nvSpPr>
        <p:spPr bwMode="auto">
          <a:xfrm>
            <a:off x="922774" y="2204864"/>
            <a:ext cx="757237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Black" pitchFamily="34" charset="0"/>
              </a:rPr>
              <a:t>OFERTA DE SERVICIO </a:t>
            </a:r>
            <a:r>
              <a:rPr lang="es-MX" sz="2800" kern="0" noProof="0" dirty="0" smtClean="0">
                <a:solidFill>
                  <a:srgbClr val="C00000"/>
                </a:solidFill>
                <a:latin typeface="Arial Black" pitchFamily="34" charset="0"/>
              </a:rPr>
              <a:t>PAGOS DOMICILIADOS</a:t>
            </a:r>
            <a:endParaRPr kumimoji="0" lang="es-VE" sz="2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1 CuadroTexto"/>
          <p:cNvSpPr txBox="1">
            <a:spLocks noChangeArrowheads="1"/>
          </p:cNvSpPr>
          <p:nvPr/>
        </p:nvSpPr>
        <p:spPr bwMode="auto">
          <a:xfrm>
            <a:off x="5011643" y="1312467"/>
            <a:ext cx="404309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/>
            <a:r>
              <a:rPr lang="es-VE" sz="1400" b="1" dirty="0">
                <a:latin typeface="Arial" charset="0"/>
                <a:cs typeface="Arial" charset="0"/>
              </a:rPr>
              <a:t>Vicepresidencia de Operaciones</a:t>
            </a:r>
          </a:p>
          <a:p>
            <a:pPr algn="r"/>
            <a:r>
              <a:rPr lang="es-VE" sz="1400" b="1" dirty="0" smtClean="0">
                <a:latin typeface="Arial" charset="0"/>
                <a:cs typeface="Arial" charset="0"/>
              </a:rPr>
              <a:t>Gerencia </a:t>
            </a:r>
            <a:r>
              <a:rPr lang="es-VE" sz="1400" b="1" dirty="0">
                <a:latin typeface="Arial" charset="0"/>
                <a:cs typeface="Arial" charset="0"/>
              </a:rPr>
              <a:t>General de Operaciones de </a:t>
            </a:r>
            <a:r>
              <a:rPr lang="es-VE" sz="1400" b="1" dirty="0" smtClean="0">
                <a:latin typeface="Arial" charset="0"/>
                <a:cs typeface="Arial" charset="0"/>
              </a:rPr>
              <a:t>Pasivos</a:t>
            </a:r>
          </a:p>
          <a:p>
            <a:pPr algn="r"/>
            <a:r>
              <a:rPr lang="es-VE" sz="1400" b="1" dirty="0" smtClean="0">
                <a:latin typeface="Arial" charset="0"/>
                <a:cs typeface="Arial" charset="0"/>
              </a:rPr>
              <a:t>Gerencia de Área Operaciones Bancarias</a:t>
            </a:r>
            <a:endParaRPr lang="es-VE" sz="1400" b="1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8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3306791" y="1477385"/>
            <a:ext cx="25419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s-ES" sz="2800" b="1" dirty="0" smtClean="0">
                <a:solidFill>
                  <a:srgbClr val="C00000"/>
                </a:solidFill>
              </a:rPr>
              <a:t>PRESENTACIÓN </a:t>
            </a:r>
            <a:endParaRPr lang="es-VE" sz="2800" b="1" dirty="0">
              <a:solidFill>
                <a:srgbClr val="C00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608978" y="2000605"/>
            <a:ext cx="2423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tabLst>
                <a:tab pos="266700" algn="l"/>
              </a:tabLst>
              <a:defRPr/>
            </a:pPr>
            <a:r>
              <a:rPr lang="es-VE" b="1" dirty="0"/>
              <a:t>Definición del Producto</a:t>
            </a:r>
          </a:p>
        </p:txBody>
      </p:sp>
      <p:sp>
        <p:nvSpPr>
          <p:cNvPr id="6" name="5 Rectángulo"/>
          <p:cNvSpPr/>
          <p:nvPr/>
        </p:nvSpPr>
        <p:spPr>
          <a:xfrm>
            <a:off x="528757" y="2449450"/>
            <a:ext cx="8456213" cy="391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defRPr/>
            </a:pPr>
            <a:r>
              <a:rPr lang="es-ES" dirty="0" smtClean="0"/>
              <a:t>	</a:t>
            </a:r>
            <a:r>
              <a:rPr lang="es-ES" dirty="0">
                <a:cs typeface="Calibri" pitchFamily="34" charset="0"/>
              </a:rPr>
              <a:t> </a:t>
            </a:r>
            <a:endParaRPr lang="es-ES" dirty="0" smtClean="0">
              <a:cs typeface="Calibri" pitchFamily="34" charset="0"/>
            </a:endParaRPr>
          </a:p>
          <a:p>
            <a:pPr algn="just">
              <a:spcBef>
                <a:spcPct val="20000"/>
              </a:spcBef>
              <a:defRPr/>
            </a:pPr>
            <a:r>
              <a:rPr lang="es-ES" dirty="0">
                <a:cs typeface="Calibri" pitchFamily="34" charset="0"/>
              </a:rPr>
              <a:t>	</a:t>
            </a:r>
            <a:r>
              <a:rPr lang="es-ES" dirty="0" smtClean="0">
                <a:cs typeface="Calibri" pitchFamily="34" charset="0"/>
              </a:rPr>
              <a:t>Servicio </a:t>
            </a:r>
            <a:r>
              <a:rPr lang="es-ES" dirty="0">
                <a:cs typeface="Calibri" pitchFamily="34" charset="0"/>
              </a:rPr>
              <a:t>a través del cual cada empresa u organismo puede efectuar el cobro oportuno y seguro de sus ventas a crédito o servicios prestados, desde la comodidad de su oficina, evitando la </a:t>
            </a:r>
            <a:r>
              <a:rPr lang="es-ES" dirty="0" smtClean="0">
                <a:cs typeface="Calibri" pitchFamily="34" charset="0"/>
              </a:rPr>
              <a:t>morosidad, a través de cualquier agencia de </a:t>
            </a:r>
            <a:r>
              <a:rPr lang="es-ES" b="1" dirty="0" smtClean="0"/>
              <a:t>BANCO BICENTENARIO DEL PUEBLO</a:t>
            </a:r>
            <a:r>
              <a:rPr lang="es-ES" dirty="0" smtClean="0"/>
              <a:t>.</a:t>
            </a:r>
          </a:p>
          <a:p>
            <a:pPr>
              <a:spcBef>
                <a:spcPct val="20000"/>
              </a:spcBef>
              <a:defRPr/>
            </a:pPr>
            <a:endParaRPr lang="es-ES" dirty="0">
              <a:solidFill>
                <a:srgbClr val="333399"/>
              </a:solidFill>
              <a:ea typeface="ＭＳ Ｐゴシック" pitchFamily="1" charset="-128"/>
            </a:endParaRPr>
          </a:p>
          <a:p>
            <a:pPr marL="342900" indent="-342900">
              <a:spcBef>
                <a:spcPct val="20000"/>
              </a:spcBef>
              <a:tabLst>
                <a:tab pos="266700" algn="l"/>
              </a:tabLst>
              <a:defRPr/>
            </a:pPr>
            <a:r>
              <a:rPr lang="es-VE" b="1" dirty="0">
                <a:cs typeface="Calibri" pitchFamily="34" charset="0"/>
              </a:rPr>
              <a:t>A </a:t>
            </a:r>
            <a:r>
              <a:rPr lang="es-VE" b="1" dirty="0" smtClean="0">
                <a:cs typeface="Calibri" pitchFamily="34" charset="0"/>
              </a:rPr>
              <a:t>quién </a:t>
            </a:r>
            <a:r>
              <a:rPr lang="es-VE" b="1" dirty="0">
                <a:cs typeface="Calibri" pitchFamily="34" charset="0"/>
              </a:rPr>
              <a:t>va dirigido</a:t>
            </a:r>
            <a:r>
              <a:rPr lang="es-VE" dirty="0">
                <a:cs typeface="Calibri" pitchFamily="34" charset="0"/>
              </a:rPr>
              <a:t/>
            </a:r>
            <a:br>
              <a:rPr lang="es-VE" dirty="0">
                <a:cs typeface="Calibri" pitchFamily="34" charset="0"/>
              </a:rPr>
            </a:br>
            <a:r>
              <a:rPr lang="es-VE" dirty="0">
                <a:cs typeface="Calibri" pitchFamily="34" charset="0"/>
              </a:rPr>
              <a:t>Comercios con Ventas a CREDITO</a:t>
            </a:r>
            <a:br>
              <a:rPr lang="es-VE" dirty="0">
                <a:cs typeface="Calibri" pitchFamily="34" charset="0"/>
              </a:rPr>
            </a:br>
            <a:r>
              <a:rPr lang="es-VE" dirty="0">
                <a:cs typeface="Calibri" pitchFamily="34" charset="0"/>
              </a:rPr>
              <a:t>Empresas de Servicios (Colegios, TV CABLE, Seguros, Etc..)</a:t>
            </a:r>
            <a:br>
              <a:rPr lang="es-VE" dirty="0">
                <a:cs typeface="Calibri" pitchFamily="34" charset="0"/>
              </a:rPr>
            </a:br>
            <a:r>
              <a:rPr lang="es-VE" dirty="0">
                <a:cs typeface="Calibri" pitchFamily="34" charset="0"/>
              </a:rPr>
              <a:t>Cajas de Ahorro</a:t>
            </a:r>
            <a:r>
              <a:rPr lang="es-VE" dirty="0">
                <a:solidFill>
                  <a:schemeClr val="accent2"/>
                </a:solidFill>
                <a:ea typeface="ＭＳ Ｐゴシック" pitchFamily="34" charset="-128"/>
              </a:rPr>
              <a:t/>
            </a:r>
            <a:br>
              <a:rPr lang="es-VE" dirty="0">
                <a:solidFill>
                  <a:schemeClr val="accent2"/>
                </a:solidFill>
                <a:ea typeface="ＭＳ Ｐゴシック" pitchFamily="34" charset="-128"/>
              </a:rPr>
            </a:br>
            <a:endParaRPr lang="es-VE" dirty="0">
              <a:cs typeface="Calibri" pitchFamily="34" charset="0"/>
            </a:endParaRPr>
          </a:p>
          <a:p>
            <a:pPr marL="342900" indent="-342900">
              <a:spcBef>
                <a:spcPct val="20000"/>
              </a:spcBef>
              <a:tabLst>
                <a:tab pos="266700" algn="l"/>
              </a:tabLst>
              <a:defRPr/>
            </a:pP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439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2074339" y="1397871"/>
            <a:ext cx="48350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s-ES" sz="2800" b="1" dirty="0" smtClean="0">
                <a:solidFill>
                  <a:srgbClr val="C00000"/>
                </a:solidFill>
              </a:rPr>
              <a:t>REQUISITOS PARA LA EMPRESA</a:t>
            </a:r>
            <a:endParaRPr lang="es-VE" sz="2800" b="1" dirty="0">
              <a:solidFill>
                <a:srgbClr val="C00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596349" y="2072166"/>
            <a:ext cx="815803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Calibri" pitchFamily="34" charset="0"/>
              <a:buAutoNum type="arabicPeriod"/>
            </a:pPr>
            <a:r>
              <a:rPr lang="es-VE" sz="2000" dirty="0"/>
              <a:t>Poseer Cta. Corriente en Banco </a:t>
            </a:r>
            <a:r>
              <a:rPr lang="es-VE" sz="2000" dirty="0" smtClean="0"/>
              <a:t>Bicentenario del Pueblo.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Calibri" pitchFamily="34" charset="0"/>
              <a:buAutoNum type="arabicPeriod"/>
            </a:pPr>
            <a:endParaRPr lang="es-VE" sz="2000" dirty="0"/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Calibri" pitchFamily="34" charset="0"/>
              <a:buAutoNum type="arabicPeriod"/>
            </a:pPr>
            <a:r>
              <a:rPr lang="es-VE" sz="2000" dirty="0" smtClean="0"/>
              <a:t>Aceptar </a:t>
            </a:r>
            <a:r>
              <a:rPr lang="es-VE" sz="2000" dirty="0"/>
              <a:t>Carta Propuesta de Servicio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Calibri" pitchFamily="34" charset="0"/>
              <a:buAutoNum type="arabicPeriod"/>
            </a:pPr>
            <a:endParaRPr lang="es-VE" sz="2000" dirty="0"/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Calibri" pitchFamily="34" charset="0"/>
              <a:buAutoNum type="arabicPeriod"/>
            </a:pPr>
            <a:r>
              <a:rPr lang="es-VE" sz="2000" dirty="0"/>
              <a:t>Firmar el contrato de Afiliación al Servicio de Pago Domiciliado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Calibri" pitchFamily="34" charset="0"/>
              <a:buAutoNum type="arabicPeriod"/>
            </a:pPr>
            <a:endParaRPr lang="es-VE" sz="2000" dirty="0"/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Calibri" pitchFamily="34" charset="0"/>
              <a:buAutoNum type="arabicPeriod"/>
            </a:pPr>
            <a:r>
              <a:rPr lang="es-VE" sz="2000" dirty="0"/>
              <a:t>Consignar Registro Mercantil con sus modificaciones, R.I.F. y Copia C.I. de los Autorizados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s-VE" sz="2000" dirty="0"/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s-ES" sz="2000" dirty="0"/>
              <a:t>5.-  Autorización de cargo en cuenta firmada por el comprador, indicando el nombre de la EMPRESA, RIF,  el número de la cuenta en “</a:t>
            </a:r>
            <a:r>
              <a:rPr lang="es-ES" sz="2000" b="1" dirty="0"/>
              <a:t>BANCO BICENTENARIO DEL </a:t>
            </a:r>
            <a:r>
              <a:rPr lang="es-ES" sz="2000" b="1" dirty="0" smtClean="0"/>
              <a:t>PUEBLO</a:t>
            </a:r>
            <a:r>
              <a:rPr lang="es-ES" sz="2000" dirty="0" smtClean="0"/>
              <a:t>”, </a:t>
            </a:r>
            <a:r>
              <a:rPr lang="es-ES" sz="2000" dirty="0"/>
              <a:t>el número de cuotas, el monto de cada una de ellas y la fecha del primer pago, acompañada de  fotocopia de su libreta de ahorros y de la cédula de identidad del trabajador.</a:t>
            </a:r>
          </a:p>
        </p:txBody>
      </p:sp>
    </p:spTree>
    <p:extLst>
      <p:ext uri="{BB962C8B-B14F-4D97-AF65-F5344CB8AC3E}">
        <p14:creationId xmlns:p14="http://schemas.microsoft.com/office/powerpoint/2010/main" val="277201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1263306" y="1533043"/>
            <a:ext cx="6631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s-ES" sz="2800" b="1" dirty="0" smtClean="0">
                <a:solidFill>
                  <a:srgbClr val="C00000"/>
                </a:solidFill>
              </a:rPr>
              <a:t>VENTAJAS DEL SERVICIO PARA LA EMPRESA</a:t>
            </a:r>
            <a:endParaRPr lang="es-VE" sz="2800" b="1" dirty="0">
              <a:solidFill>
                <a:srgbClr val="C00000"/>
              </a:solidFill>
            </a:endParaRPr>
          </a:p>
        </p:txBody>
      </p:sp>
      <p:sp>
        <p:nvSpPr>
          <p:cNvPr id="5" name="8 Marcador de contenido"/>
          <p:cNvSpPr>
            <a:spLocks noGrp="1"/>
          </p:cNvSpPr>
          <p:nvPr>
            <p:ph idx="1"/>
          </p:nvPr>
        </p:nvSpPr>
        <p:spPr>
          <a:xfrm>
            <a:off x="467428" y="2391341"/>
            <a:ext cx="8223250" cy="3703637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20000"/>
              </a:lnSpc>
              <a:buFont typeface="+mj-lt"/>
              <a:buAutoNum type="arabicPeriod"/>
              <a:tabLst>
                <a:tab pos="266700" algn="l"/>
              </a:tabLst>
              <a:defRPr/>
            </a:pPr>
            <a:r>
              <a:rPr lang="es-VE" sz="2000" dirty="0" smtClean="0"/>
              <a:t>Ahorro de costos, operatividad y productividad.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/>
              <a:tabLst>
                <a:tab pos="266700" algn="l"/>
              </a:tabLst>
              <a:defRPr/>
            </a:pPr>
            <a:r>
              <a:rPr lang="es-ES" sz="2000" dirty="0" smtClean="0"/>
              <a:t>Disminución de cartera de morosidad a través de la cobranza oportuna.</a:t>
            </a:r>
            <a:endParaRPr lang="es-VE" sz="2000" dirty="0" smtClean="0"/>
          </a:p>
          <a:p>
            <a:pPr marL="457200" indent="-457200" algn="just">
              <a:lnSpc>
                <a:spcPct val="120000"/>
              </a:lnSpc>
              <a:buFont typeface="+mj-lt"/>
              <a:buAutoNum type="arabicPeriod"/>
              <a:tabLst>
                <a:tab pos="266700" algn="l"/>
              </a:tabLst>
              <a:defRPr/>
            </a:pPr>
            <a:r>
              <a:rPr lang="es-VE" sz="2000" dirty="0" smtClean="0"/>
              <a:t>Optimización del flujo de caja de la empresa.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/>
              <a:tabLst>
                <a:tab pos="266700" algn="l"/>
              </a:tabLst>
              <a:defRPr/>
            </a:pPr>
            <a:r>
              <a:rPr lang="es-VE" sz="2000" dirty="0" smtClean="0"/>
              <a:t>Evita el manejo de efectivo y cheques.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/>
              <a:tabLst>
                <a:tab pos="266700" algn="l"/>
              </a:tabLst>
              <a:defRPr/>
            </a:pPr>
            <a:r>
              <a:rPr lang="es-VE" sz="2000" dirty="0" smtClean="0"/>
              <a:t>Permite al cliente planificar de manera anticipada la cobranza de ventas a crédito o servicios prestados .</a:t>
            </a:r>
          </a:p>
          <a:p>
            <a:pPr algn="just">
              <a:lnSpc>
                <a:spcPct val="120000"/>
              </a:lnSpc>
              <a:buFont typeface="+mj-lt"/>
              <a:buAutoNum type="arabicPeriod"/>
              <a:tabLst>
                <a:tab pos="266700" algn="l"/>
              </a:tabLst>
              <a:defRPr/>
            </a:pPr>
            <a:r>
              <a:rPr lang="es-VE" sz="2000" dirty="0" smtClean="0"/>
              <a:t>   Se realiza un solo cargo en función del Nº de cobranzas</a:t>
            </a:r>
            <a:endParaRPr lang="es-ES" sz="2000" dirty="0" smtClean="0"/>
          </a:p>
        </p:txBody>
      </p:sp>
    </p:spTree>
    <p:extLst>
      <p:ext uri="{BB962C8B-B14F-4D97-AF65-F5344CB8AC3E}">
        <p14:creationId xmlns:p14="http://schemas.microsoft.com/office/powerpoint/2010/main" val="84951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676537" y="1571241"/>
            <a:ext cx="76279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s-ES" sz="2800" b="1" dirty="0" smtClean="0">
                <a:solidFill>
                  <a:srgbClr val="C00000"/>
                </a:solidFill>
              </a:rPr>
              <a:t>COSTO DEL SERVICIO PARA PAGOS DOMICILIADOS</a:t>
            </a:r>
            <a:endParaRPr lang="es-VE" sz="2800" b="1" dirty="0">
              <a:solidFill>
                <a:srgbClr val="C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15195" y="2445593"/>
            <a:ext cx="8121650" cy="28623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defRPr/>
            </a:pPr>
            <a:endParaRPr lang="es-VE" sz="2000" dirty="0">
              <a:latin typeface="+mn-lt"/>
              <a:ea typeface="ＭＳ Ｐゴシック" pitchFamily="34" charset="-128"/>
            </a:endParaRPr>
          </a:p>
          <a:p>
            <a:pPr marL="177800" indent="-177800" algn="just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s-VE" sz="2000" dirty="0">
                <a:latin typeface="+mn-lt"/>
                <a:ea typeface="ＭＳ Ｐゴシック" pitchFamily="34" charset="-128"/>
              </a:rPr>
              <a:t>No importa la frecuencia de la nómina (semanal, quincenal, mensual), la tarifa es única </a:t>
            </a:r>
          </a:p>
          <a:p>
            <a:pPr marL="177800" indent="-177800" algn="just">
              <a:lnSpc>
                <a:spcPct val="90000"/>
              </a:lnSpc>
              <a:defRPr/>
            </a:pPr>
            <a:endParaRPr lang="es-VE" sz="2000" dirty="0">
              <a:latin typeface="+mn-lt"/>
              <a:ea typeface="ＭＳ Ｐゴシック" pitchFamily="34" charset="-128"/>
            </a:endParaRPr>
          </a:p>
          <a:p>
            <a:pPr marL="177800" indent="-177800" algn="just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s-VE" sz="2000" dirty="0">
                <a:latin typeface="+mn-lt"/>
                <a:ea typeface="ＭＳ Ｐゴシック" pitchFamily="34" charset="-128"/>
              </a:rPr>
              <a:t>Cargo </a:t>
            </a:r>
            <a:r>
              <a:rPr lang="es-VE" sz="2000" dirty="0" smtClean="0">
                <a:latin typeface="+mn-lt"/>
                <a:ea typeface="ＭＳ Ｐゴシック" pitchFamily="34" charset="-128"/>
              </a:rPr>
              <a:t>de 0,60% aplicado </a:t>
            </a:r>
            <a:r>
              <a:rPr lang="es-VE" sz="2000" dirty="0">
                <a:latin typeface="+mn-lt"/>
                <a:ea typeface="ＭＳ Ｐゴシック" pitchFamily="34" charset="-128"/>
              </a:rPr>
              <a:t>al </a:t>
            </a:r>
            <a:r>
              <a:rPr lang="es-VE" sz="2000" dirty="0" smtClean="0">
                <a:latin typeface="+mn-lt"/>
                <a:ea typeface="ＭＳ Ｐゴシック" pitchFamily="34" charset="-128"/>
              </a:rPr>
              <a:t>monto total de la Domiciliación.</a:t>
            </a:r>
          </a:p>
          <a:p>
            <a:pPr marL="177800" indent="-177800" algn="just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s-VE" sz="2000" dirty="0">
              <a:ea typeface="ＭＳ Ｐゴシック" pitchFamily="34" charset="-128"/>
            </a:endParaRPr>
          </a:p>
          <a:p>
            <a:pPr marL="177800" indent="-177800" algn="just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s-VE" sz="2000" dirty="0" smtClean="0">
                <a:latin typeface="+mn-lt"/>
                <a:ea typeface="ＭＳ Ｐゴシック" pitchFamily="34" charset="-128"/>
              </a:rPr>
              <a:t>Más </a:t>
            </a:r>
            <a:r>
              <a:rPr lang="es-VE" sz="2000" smtClean="0">
                <a:latin typeface="+mn-lt"/>
                <a:ea typeface="ＭＳ Ｐゴシック" pitchFamily="34" charset="-128"/>
              </a:rPr>
              <a:t>el </a:t>
            </a:r>
            <a:r>
              <a:rPr lang="es-VE" sz="2000" smtClean="0">
                <a:latin typeface="+mn-lt"/>
                <a:ea typeface="ＭＳ Ｐゴシック" pitchFamily="34" charset="-128"/>
              </a:rPr>
              <a:t>0,30</a:t>
            </a:r>
            <a:r>
              <a:rPr lang="es-VE" sz="2000" dirty="0" smtClean="0">
                <a:latin typeface="+mn-lt"/>
                <a:ea typeface="ＭＳ Ｐゴシック" pitchFamily="34" charset="-128"/>
              </a:rPr>
              <a:t>% de </a:t>
            </a:r>
            <a:r>
              <a:rPr lang="es-VE" sz="2000" smtClean="0">
                <a:latin typeface="+mn-lt"/>
                <a:ea typeface="ＭＳ Ｐゴシック" pitchFamily="34" charset="-128"/>
              </a:rPr>
              <a:t>gastos administrativos</a:t>
            </a:r>
            <a:endParaRPr lang="es-VE" sz="2000" dirty="0" smtClean="0">
              <a:latin typeface="+mn-lt"/>
              <a:ea typeface="ＭＳ Ｐゴシック" pitchFamily="34" charset="-128"/>
            </a:endParaRPr>
          </a:p>
          <a:p>
            <a:pPr marL="177800" indent="-177800" algn="just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s-VE" sz="2000" dirty="0">
              <a:ea typeface="ＭＳ Ｐゴシック" pitchFamily="34" charset="-128"/>
            </a:endParaRPr>
          </a:p>
          <a:p>
            <a:pPr marL="177800" indent="-177800" algn="just">
              <a:lnSpc>
                <a:spcPct val="90000"/>
              </a:lnSpc>
              <a:buFont typeface="Wingdings" pitchFamily="2" charset="2"/>
              <a:buChar char="§"/>
              <a:defRPr/>
            </a:pPr>
            <a:endParaRPr lang="es-VE" sz="2000" b="1" dirty="0">
              <a:latin typeface="+mn-lt"/>
              <a:ea typeface="ＭＳ Ｐゴシック" pitchFamily="34" charset="-128"/>
            </a:endParaRPr>
          </a:p>
          <a:p>
            <a:pPr marL="177800" indent="-177800">
              <a:lnSpc>
                <a:spcPct val="90000"/>
              </a:lnSpc>
              <a:buClr>
                <a:srgbClr val="FF9900"/>
              </a:buClr>
              <a:defRPr/>
            </a:pPr>
            <a:endParaRPr lang="es-VE" sz="2000" dirty="0">
              <a:latin typeface="+mj-lt"/>
              <a:ea typeface="ＭＳ Ｐゴシック" pitchFamily="34" charset="-128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1761213" y="4851794"/>
            <a:ext cx="54585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b="1" i="1" u="sng" dirty="0"/>
              <a:t>EL PROCESO  SOLO PERMITE CARGOS EN CUENTAS DE AHORRO Y CORRIENTES DE PERSONAS NATURALES</a:t>
            </a:r>
            <a:endParaRPr lang="es-ES" b="1" i="1" u="sng" dirty="0"/>
          </a:p>
        </p:txBody>
      </p:sp>
    </p:spTree>
    <p:extLst>
      <p:ext uri="{BB962C8B-B14F-4D97-AF65-F5344CB8AC3E}">
        <p14:creationId xmlns:p14="http://schemas.microsoft.com/office/powerpoint/2010/main" val="363172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1494843" y="1451971"/>
            <a:ext cx="5991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s-ES" sz="2800" b="1" dirty="0" smtClean="0">
                <a:solidFill>
                  <a:srgbClr val="C00000"/>
                </a:solidFill>
              </a:rPr>
              <a:t>CREACIÓN CÓDIGO DE DOMICILIACIÓN</a:t>
            </a:r>
            <a:endParaRPr lang="es-VE" sz="2800" b="1" dirty="0">
              <a:solidFill>
                <a:srgbClr val="C00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90001" y="2428415"/>
            <a:ext cx="82325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  <a:defRPr/>
            </a:pPr>
            <a:r>
              <a:rPr lang="es-MX" dirty="0"/>
              <a:t>La agencia entrega al cliente una carta de oferta, donde especifica el servicio a prestar, incluyendo comisiones y contrato de nómina.</a:t>
            </a:r>
            <a:endParaRPr lang="es-VE" dirty="0"/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MX" dirty="0"/>
              <a:t>El cliente debe consignar a la agencia los recaudos solicitados con sus firmas y sellos, además debe entregar una carta de conformidad con el servicio de </a:t>
            </a:r>
            <a:r>
              <a:rPr lang="es-MX" dirty="0" smtClean="0"/>
              <a:t>nómina </a:t>
            </a:r>
            <a:r>
              <a:rPr lang="es-MX" dirty="0"/>
              <a:t>y suministrar un correo electrónico (que no sea Hotmail).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MX" dirty="0"/>
              <a:t>La agencia envía digitalizado </a:t>
            </a:r>
            <a:r>
              <a:rPr lang="es-MX" dirty="0" smtClean="0"/>
              <a:t>toda la documentación solicitada al </a:t>
            </a:r>
            <a:r>
              <a:rPr lang="es-MX" dirty="0"/>
              <a:t>buzón </a:t>
            </a:r>
            <a:r>
              <a:rPr lang="es-ES" dirty="0" smtClean="0">
                <a:ea typeface="ＭＳ Ｐゴシック" pitchFamily="34" charset="-128"/>
                <a:hlinkClick r:id="rId2"/>
              </a:rPr>
              <a:t>servicios.nominas@bicentenariobu.com </a:t>
            </a:r>
            <a:endParaRPr lang="es-ES" dirty="0" smtClean="0">
              <a:ea typeface="ＭＳ Ｐゴシック" pitchFamily="34" charset="-128"/>
            </a:endParaRP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MX" dirty="0" smtClean="0"/>
              <a:t>El </a:t>
            </a:r>
            <a:r>
              <a:rPr lang="es-MX" dirty="0"/>
              <a:t>expediente original debe reposar en la agencia tutora, NO debe ser remitido al área de nómina.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es-MX" dirty="0"/>
              <a:t>Una vez creado el código, el analista lo envía vía correo al cliente y a su agencia tutora, conjuntamente con el modelo de archivo txt, y formato para su elaboración.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26457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/>
          </p:cNvSpPr>
          <p:nvPr/>
        </p:nvSpPr>
        <p:spPr bwMode="auto">
          <a:xfrm>
            <a:off x="4949923" y="1324679"/>
            <a:ext cx="40290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s-ES" sz="2000" dirty="0">
                <a:solidFill>
                  <a:srgbClr val="C00000"/>
                </a:solidFill>
                <a:latin typeface="Arial Black" pitchFamily="34" charset="0"/>
              </a:rPr>
              <a:t>Estructura TXT </a:t>
            </a:r>
            <a:r>
              <a:rPr lang="es-ES" sz="2000" dirty="0" smtClean="0">
                <a:solidFill>
                  <a:srgbClr val="C00000"/>
                </a:solidFill>
                <a:latin typeface="Arial Black" pitchFamily="34" charset="0"/>
              </a:rPr>
              <a:t>DOMICILIACIONES</a:t>
            </a:r>
            <a:endParaRPr lang="es-ES" sz="2000" dirty="0">
              <a:solidFill>
                <a:srgbClr val="C00000"/>
              </a:solidFill>
              <a:latin typeface="Arial Black" pitchFamily="34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276129" y="1690562"/>
            <a:ext cx="3240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600" b="1" dirty="0"/>
              <a:t>CAMPOS ENCABEZADO</a:t>
            </a:r>
            <a:endParaRPr lang="es-ES" sz="1600" b="1" dirty="0"/>
          </a:p>
        </p:txBody>
      </p:sp>
      <p:sp>
        <p:nvSpPr>
          <p:cNvPr id="6" name="Line 11"/>
          <p:cNvSpPr>
            <a:spLocks noChangeShapeType="1"/>
          </p:cNvSpPr>
          <p:nvPr/>
        </p:nvSpPr>
        <p:spPr bwMode="auto">
          <a:xfrm>
            <a:off x="2318675" y="2027112"/>
            <a:ext cx="0" cy="2889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VE"/>
          </a:p>
        </p:txBody>
      </p:sp>
      <p:sp>
        <p:nvSpPr>
          <p:cNvPr id="7" name="26 Rectángulo"/>
          <p:cNvSpPr>
            <a:spLocks noChangeArrowheads="1"/>
          </p:cNvSpPr>
          <p:nvPr/>
        </p:nvSpPr>
        <p:spPr bwMode="auto">
          <a:xfrm>
            <a:off x="500062" y="2871670"/>
            <a:ext cx="7000875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buFont typeface="Arial" pitchFamily="34" charset="0"/>
              <a:buNone/>
            </a:pPr>
            <a:r>
              <a:rPr lang="es-ES" b="1" dirty="0">
                <a:solidFill>
                  <a:srgbClr val="0070C0"/>
                </a:solidFill>
              </a:rPr>
              <a:t>01750068670070686260</a:t>
            </a:r>
            <a:r>
              <a:rPr lang="es-ES" b="1" dirty="0">
                <a:solidFill>
                  <a:srgbClr val="FF3300"/>
                </a:solidFill>
              </a:rPr>
              <a:t>20110121</a:t>
            </a:r>
            <a:r>
              <a:rPr lang="es-ES" b="1" dirty="0">
                <a:solidFill>
                  <a:srgbClr val="00CC66"/>
                </a:solidFill>
              </a:rPr>
              <a:t>00000000006388272</a:t>
            </a:r>
            <a:r>
              <a:rPr lang="es-ES" b="1" dirty="0">
                <a:solidFill>
                  <a:srgbClr val="990099"/>
                </a:solidFill>
              </a:rPr>
              <a:t>0004</a:t>
            </a:r>
          </a:p>
          <a:p>
            <a:pPr>
              <a:lnSpc>
                <a:spcPct val="90000"/>
              </a:lnSpc>
              <a:buFont typeface="Arial" pitchFamily="34" charset="0"/>
              <a:buNone/>
            </a:pPr>
            <a:r>
              <a:rPr lang="es-ES" b="1" dirty="0" smtClean="0"/>
              <a:t>051300000012245900070068170010005382001048178800000</a:t>
            </a:r>
            <a:r>
              <a:rPr lang="es-ES" b="1" dirty="0" smtClean="0">
                <a:solidFill>
                  <a:srgbClr val="00FF00"/>
                </a:solidFill>
              </a:rPr>
              <a:t>1</a:t>
            </a:r>
            <a:r>
              <a:rPr lang="es-ES" b="1" dirty="0" smtClean="0"/>
              <a:t>00</a:t>
            </a:r>
            <a:endParaRPr lang="es-ES" b="1" dirty="0"/>
          </a:p>
          <a:p>
            <a:pPr>
              <a:lnSpc>
                <a:spcPct val="90000"/>
              </a:lnSpc>
              <a:buFont typeface="Arial" pitchFamily="34" charset="0"/>
              <a:buNone/>
            </a:pPr>
            <a:r>
              <a:rPr lang="es-ES" b="1" dirty="0" smtClean="0"/>
              <a:t>051300000002692100070068170010005379000621611400000</a:t>
            </a:r>
            <a:r>
              <a:rPr lang="es-ES" b="1" dirty="0">
                <a:solidFill>
                  <a:srgbClr val="00FF00"/>
                </a:solidFill>
              </a:rPr>
              <a:t>1</a:t>
            </a:r>
            <a:r>
              <a:rPr lang="es-ES" b="1" dirty="0"/>
              <a:t>00</a:t>
            </a:r>
          </a:p>
          <a:p>
            <a:pPr>
              <a:lnSpc>
                <a:spcPct val="90000"/>
              </a:lnSpc>
              <a:buFont typeface="Arial" pitchFamily="34" charset="0"/>
              <a:buNone/>
            </a:pPr>
            <a:r>
              <a:rPr lang="es-ES" b="1" dirty="0" smtClean="0"/>
              <a:t>051300000002910300070068170010000375000350788400000</a:t>
            </a:r>
            <a:r>
              <a:rPr lang="es-ES" b="1" dirty="0">
                <a:solidFill>
                  <a:srgbClr val="00FF00"/>
                </a:solidFill>
              </a:rPr>
              <a:t>1</a:t>
            </a:r>
            <a:r>
              <a:rPr lang="es-ES" b="1" dirty="0"/>
              <a:t>00</a:t>
            </a:r>
          </a:p>
          <a:p>
            <a:pPr>
              <a:lnSpc>
                <a:spcPct val="90000"/>
              </a:lnSpc>
              <a:buFont typeface="Arial" pitchFamily="34" charset="0"/>
              <a:buNone/>
            </a:pPr>
            <a:r>
              <a:rPr lang="es-ES" b="1" dirty="0" smtClean="0">
                <a:solidFill>
                  <a:srgbClr val="820000"/>
                </a:solidFill>
              </a:rPr>
              <a:t>0513</a:t>
            </a:r>
            <a:r>
              <a:rPr lang="es-ES" b="1" dirty="0" smtClean="0">
                <a:solidFill>
                  <a:srgbClr val="00CC66"/>
                </a:solidFill>
              </a:rPr>
              <a:t>000000018801</a:t>
            </a:r>
            <a:r>
              <a:rPr lang="es-ES" b="1" dirty="0" smtClean="0">
                <a:solidFill>
                  <a:srgbClr val="820000"/>
                </a:solidFill>
              </a:rPr>
              <a:t>00070068140010001925</a:t>
            </a:r>
            <a:r>
              <a:rPr lang="es-ES" b="1" dirty="0" smtClean="0">
                <a:solidFill>
                  <a:schemeClr val="hlink"/>
                </a:solidFill>
              </a:rPr>
              <a:t>0003240080</a:t>
            </a:r>
            <a:r>
              <a:rPr lang="es-ES" b="1" dirty="0" smtClean="0">
                <a:solidFill>
                  <a:srgbClr val="990099"/>
                </a:solidFill>
              </a:rPr>
              <a:t>00000</a:t>
            </a:r>
            <a:r>
              <a:rPr lang="es-ES" b="1" dirty="0" smtClean="0">
                <a:solidFill>
                  <a:srgbClr val="00FF00"/>
                </a:solidFill>
              </a:rPr>
              <a:t>1</a:t>
            </a:r>
            <a:r>
              <a:rPr lang="es-ES" b="1" dirty="0">
                <a:solidFill>
                  <a:srgbClr val="820000"/>
                </a:solidFill>
              </a:rPr>
              <a:t>00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276129" y="2531945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b="1" dirty="0">
                <a:solidFill>
                  <a:srgbClr val="0070C0"/>
                </a:solidFill>
              </a:rPr>
              <a:t>20</a:t>
            </a:r>
            <a:endParaRPr lang="es-ES" sz="1400" b="1" dirty="0">
              <a:solidFill>
                <a:srgbClr val="0070C0"/>
              </a:solidFill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178381" y="2531945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sz="1400" b="1" dirty="0">
                <a:solidFill>
                  <a:srgbClr val="FF3300"/>
                </a:solidFill>
              </a:rPr>
              <a:t>8</a:t>
            </a:r>
            <a:endParaRPr lang="es-ES" sz="1400" b="1" dirty="0">
              <a:solidFill>
                <a:srgbClr val="FF3300"/>
              </a:solidFill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178246" y="2566870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b="1" dirty="0">
                <a:solidFill>
                  <a:srgbClr val="00CC00"/>
                </a:solidFill>
              </a:rPr>
              <a:t>17</a:t>
            </a:r>
            <a:endParaRPr lang="es-ES" sz="1400" b="1" dirty="0">
              <a:solidFill>
                <a:srgbClr val="00CC00"/>
              </a:solidFill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917193" y="2531945"/>
            <a:ext cx="288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b="1" dirty="0">
                <a:solidFill>
                  <a:schemeClr val="folHlink"/>
                </a:solidFill>
              </a:rPr>
              <a:t>4</a:t>
            </a:r>
            <a:endParaRPr lang="es-ES" sz="1400" b="1" dirty="0">
              <a:solidFill>
                <a:schemeClr val="folHlink"/>
              </a:solidFill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flipH="1">
            <a:off x="6390364" y="2861560"/>
            <a:ext cx="504825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VE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7069137" y="2488369"/>
            <a:ext cx="13573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600" b="1" dirty="0"/>
              <a:t>Encabezado</a:t>
            </a:r>
            <a:endParaRPr lang="es-ES" sz="1600" b="1" dirty="0"/>
          </a:p>
        </p:txBody>
      </p:sp>
      <p:sp>
        <p:nvSpPr>
          <p:cNvPr id="15" name="AutoShape 8"/>
          <p:cNvSpPr>
            <a:spLocks/>
          </p:cNvSpPr>
          <p:nvPr/>
        </p:nvSpPr>
        <p:spPr bwMode="auto">
          <a:xfrm>
            <a:off x="6906033" y="3132116"/>
            <a:ext cx="71437" cy="928688"/>
          </a:xfrm>
          <a:prstGeom prst="rightBrace">
            <a:avLst>
              <a:gd name="adj1" fmla="val 1260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s-VE"/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7165216" y="3240438"/>
            <a:ext cx="1012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b="1" dirty="0"/>
              <a:t>CUERPO</a:t>
            </a:r>
            <a:endParaRPr lang="es-ES" b="1" dirty="0"/>
          </a:p>
        </p:txBody>
      </p:sp>
      <p:sp>
        <p:nvSpPr>
          <p:cNvPr id="18" name="Text Box 9"/>
          <p:cNvSpPr txBox="1">
            <a:spLocks noChangeArrowheads="1"/>
          </p:cNvSpPr>
          <p:nvPr/>
        </p:nvSpPr>
        <p:spPr bwMode="auto">
          <a:xfrm>
            <a:off x="548088" y="4210554"/>
            <a:ext cx="360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dirty="0">
                <a:solidFill>
                  <a:srgbClr val="820000"/>
                </a:solidFill>
              </a:rPr>
              <a:t>4</a:t>
            </a:r>
            <a:endParaRPr lang="es-ES" sz="1400" dirty="0">
              <a:solidFill>
                <a:srgbClr val="820000"/>
              </a:solidFill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1435280" y="4209933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b="1" dirty="0">
                <a:solidFill>
                  <a:srgbClr val="00CC00"/>
                </a:solidFill>
              </a:rPr>
              <a:t>12</a:t>
            </a:r>
            <a:endParaRPr lang="es-ES" sz="1400" b="1" dirty="0">
              <a:solidFill>
                <a:srgbClr val="00CC00"/>
              </a:solidFill>
            </a:endParaRP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2925969" y="4210554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MX" sz="1400" dirty="0">
                <a:solidFill>
                  <a:srgbClr val="820000"/>
                </a:solidFill>
              </a:rPr>
              <a:t>20</a:t>
            </a:r>
            <a:endParaRPr lang="es-ES" sz="1400" dirty="0">
              <a:solidFill>
                <a:srgbClr val="820000"/>
              </a:solidFill>
            </a:endParaRP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4949922" y="4294326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b="1" dirty="0">
                <a:solidFill>
                  <a:schemeClr val="hlink"/>
                </a:solidFill>
              </a:rPr>
              <a:t>10</a:t>
            </a:r>
            <a:endParaRPr lang="es-ES" sz="1400" b="1" dirty="0">
              <a:solidFill>
                <a:schemeClr val="hlink"/>
              </a:solidFill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5954810" y="4299171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b="1" dirty="0">
                <a:solidFill>
                  <a:schemeClr val="folHlink"/>
                </a:solidFill>
              </a:rPr>
              <a:t>5</a:t>
            </a:r>
            <a:endParaRPr lang="es-ES" sz="1400" b="1" dirty="0">
              <a:solidFill>
                <a:schemeClr val="folHlink"/>
              </a:solidFill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6401208" y="4294326"/>
            <a:ext cx="5048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" sz="1400" b="1" dirty="0">
                <a:solidFill>
                  <a:srgbClr val="00FF00"/>
                </a:solidFill>
              </a:rPr>
              <a:t>1</a:t>
            </a:r>
            <a:endParaRPr lang="es-ES" sz="1400" b="1" dirty="0">
              <a:solidFill>
                <a:srgbClr val="006600"/>
              </a:solidFill>
            </a:endParaRP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6642775" y="4294326"/>
            <a:ext cx="504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dirty="0">
                <a:solidFill>
                  <a:srgbClr val="820000"/>
                </a:solidFill>
              </a:rPr>
              <a:t>2</a:t>
            </a:r>
            <a:endParaRPr lang="es-ES" sz="1400" dirty="0">
              <a:solidFill>
                <a:srgbClr val="820000"/>
              </a:solidFill>
            </a:endParaRPr>
          </a:p>
        </p:txBody>
      </p:sp>
      <p:sp>
        <p:nvSpPr>
          <p:cNvPr id="25" name="Line 19"/>
          <p:cNvSpPr>
            <a:spLocks noChangeShapeType="1"/>
          </p:cNvSpPr>
          <p:nvPr/>
        </p:nvSpPr>
        <p:spPr bwMode="auto">
          <a:xfrm flipH="1">
            <a:off x="7015120" y="4441770"/>
            <a:ext cx="431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VE"/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7578722" y="4297501"/>
            <a:ext cx="1908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sz="1400" b="1" dirty="0"/>
              <a:t>CAMPOS CUERPO</a:t>
            </a:r>
            <a:endParaRPr lang="es-ES" sz="1400" b="1" dirty="0"/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408669" y="4660914"/>
            <a:ext cx="8449084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MX" b="1" dirty="0"/>
              <a:t>ENCABEZADO : </a:t>
            </a:r>
            <a:r>
              <a:rPr lang="es-MX" dirty="0"/>
              <a:t>Podemos detallar que contiene los datos de la empresa, número de cuenta matriz, fecha de abono, monto total de abono y cantidad de registros</a:t>
            </a:r>
            <a:endParaRPr lang="es-ES" dirty="0"/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408668" y="5308959"/>
            <a:ext cx="857033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s-MX" b="1" dirty="0"/>
              <a:t>CUERPO: </a:t>
            </a:r>
            <a:r>
              <a:rPr lang="es-MX" dirty="0"/>
              <a:t>Datos del trabajador, cada </a:t>
            </a:r>
            <a:r>
              <a:rPr lang="es-MX" dirty="0" smtClean="0"/>
              <a:t>registro </a:t>
            </a:r>
            <a:r>
              <a:rPr lang="es-MX" dirty="0"/>
              <a:t>comienza con el código de la empresa (4 dígitos), monto </a:t>
            </a:r>
            <a:r>
              <a:rPr lang="es-MX" dirty="0" smtClean="0"/>
              <a:t>debitar</a:t>
            </a:r>
            <a:r>
              <a:rPr lang="es-MX" dirty="0"/>
              <a:t>, n° de cuenta, n° de cédula, campo relleno en </a:t>
            </a:r>
            <a:r>
              <a:rPr lang="es-MX" dirty="0" smtClean="0"/>
              <a:t>ceros, indicador de debito (</a:t>
            </a:r>
            <a:r>
              <a:rPr lang="es-ES" b="1" dirty="0" smtClean="0">
                <a:solidFill>
                  <a:srgbClr val="00FF00"/>
                </a:solidFill>
              </a:rPr>
              <a:t>1</a:t>
            </a:r>
            <a:r>
              <a:rPr lang="es-ES" b="1" dirty="0" smtClean="0"/>
              <a:t>00</a:t>
            </a:r>
            <a:r>
              <a:rPr lang="es-MX" dirty="0" smtClean="0"/>
              <a:t>).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1237558" y="1547387"/>
            <a:ext cx="66251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s-ES" sz="2800" b="1" dirty="0" smtClean="0">
                <a:solidFill>
                  <a:srgbClr val="C00000"/>
                </a:solidFill>
              </a:rPr>
              <a:t>PROCESO PARA DÉBITO DE DOMICILIACIÓN</a:t>
            </a:r>
            <a:endParaRPr lang="es-VE" sz="2800" b="1" dirty="0">
              <a:solidFill>
                <a:srgbClr val="C00000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365760" y="2370985"/>
            <a:ext cx="843512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  <a:defRPr/>
            </a:pPr>
            <a:r>
              <a:rPr lang="es-MX" dirty="0"/>
              <a:t>La agencia envía </a:t>
            </a:r>
            <a:r>
              <a:rPr lang="es-MX" dirty="0" smtClean="0"/>
              <a:t>el archivo TXT  y formato de cobro, recibido por la empresa, para la respectiva cobranza al correo de </a:t>
            </a:r>
            <a:r>
              <a:rPr lang="es-ES" dirty="0" smtClean="0">
                <a:ea typeface="ＭＳ Ｐゴシック" pitchFamily="34" charset="-128"/>
                <a:hlinkClick r:id="rId2"/>
              </a:rPr>
              <a:t>domiciliaciones.pagos@bicentenariobu.com </a:t>
            </a:r>
            <a:r>
              <a:rPr lang="es-ES" dirty="0" smtClean="0">
                <a:ea typeface="ＭＳ Ｐゴシック" pitchFamily="34" charset="-128"/>
              </a:rPr>
              <a:t>, con las siguientes especificaciones</a:t>
            </a:r>
          </a:p>
          <a:p>
            <a:pPr algn="just">
              <a:defRPr/>
            </a:pPr>
            <a:endParaRPr lang="es-ES" dirty="0" smtClean="0">
              <a:ea typeface="ＭＳ Ｐゴシック" pitchFamily="34" charset="-128"/>
            </a:endParaRPr>
          </a:p>
          <a:p>
            <a:pPr>
              <a:defRPr/>
            </a:pPr>
            <a:r>
              <a:rPr lang="es-MX" dirty="0">
                <a:ea typeface="ＭＳ Ｐゴシック" pitchFamily="34" charset="-128"/>
              </a:rPr>
              <a:t>EL ARCHIVO TXT PARA CORRIDA</a:t>
            </a:r>
          </a:p>
          <a:p>
            <a:pPr>
              <a:defRPr/>
            </a:pPr>
            <a:endParaRPr lang="es-MX" dirty="0">
              <a:ea typeface="ＭＳ Ｐゴシック" pitchFamily="34" charset="-128"/>
            </a:endParaRPr>
          </a:p>
          <a:p>
            <a:pPr>
              <a:defRPr/>
            </a:pPr>
            <a:r>
              <a:rPr lang="es-MX" dirty="0">
                <a:ea typeface="ＭＳ Ｐゴシック" pitchFamily="34" charset="-128"/>
              </a:rPr>
              <a:t>2.- CARTA DE AUTORIZACION FIRMADA Y SELLADA POR LOS REPRESENTANTES</a:t>
            </a:r>
          </a:p>
          <a:p>
            <a:pPr>
              <a:defRPr/>
            </a:pPr>
            <a:r>
              <a:rPr lang="es-MX" dirty="0">
                <a:ea typeface="ＭＳ Ｐゴシック" pitchFamily="34" charset="-128"/>
              </a:rPr>
              <a:t>       LEGALES, CON MEMBRETE DE LA EMPRESA INDICANDO:</a:t>
            </a:r>
          </a:p>
          <a:p>
            <a:pPr marL="1080000" indent="-457200">
              <a:buFont typeface="Arial" pitchFamily="34" charset="0"/>
              <a:buChar char="•"/>
              <a:defRPr/>
            </a:pPr>
            <a:r>
              <a:rPr lang="es-MX" dirty="0">
                <a:ea typeface="ＭＳ Ｐゴシック" pitchFamily="34" charset="-128"/>
              </a:rPr>
              <a:t>CANTIDAD DE REGISTROS</a:t>
            </a:r>
          </a:p>
          <a:p>
            <a:pPr marL="1080000" indent="-457200">
              <a:buFont typeface="Arial" pitchFamily="34" charset="0"/>
              <a:buChar char="•"/>
              <a:defRPr/>
            </a:pPr>
            <a:r>
              <a:rPr lang="es-MX" dirty="0">
                <a:ea typeface="ＭＳ Ｐゴシック" pitchFamily="34" charset="-128"/>
              </a:rPr>
              <a:t>MONTO TOTAL A ACREDITAR</a:t>
            </a:r>
          </a:p>
          <a:p>
            <a:pPr marL="1080000" indent="-457200">
              <a:buFont typeface="Arial" pitchFamily="34" charset="0"/>
              <a:buChar char="•"/>
              <a:defRPr/>
            </a:pPr>
            <a:r>
              <a:rPr lang="es-MX" dirty="0">
                <a:ea typeface="ＭＳ Ｐゴシック" pitchFamily="34" charset="-128"/>
              </a:rPr>
              <a:t>Nro. DE CUENTA MATRIZ  DE LA EMPRESA CON LOS 20 DIGITOS</a:t>
            </a:r>
          </a:p>
          <a:p>
            <a:pPr marL="1080000" indent="-457200">
              <a:buFont typeface="Arial" pitchFamily="34" charset="0"/>
              <a:buChar char="•"/>
              <a:defRPr/>
            </a:pPr>
            <a:r>
              <a:rPr lang="es-MX" dirty="0">
                <a:ea typeface="ＭＳ Ｐゴシック" pitchFamily="34" charset="-128"/>
              </a:rPr>
              <a:t>FECHA VALOR</a:t>
            </a:r>
          </a:p>
          <a:p>
            <a:pPr>
              <a:defRPr/>
            </a:pPr>
            <a:endParaRPr lang="es-MX" dirty="0">
              <a:ea typeface="ＭＳ Ｐゴシック" pitchFamily="34" charset="-128"/>
            </a:endParaRPr>
          </a:p>
          <a:p>
            <a:pPr>
              <a:defRPr/>
            </a:pPr>
            <a:r>
              <a:rPr lang="es-MX" dirty="0"/>
              <a:t>El archivo debe enviarse con 3 días de antelación para su proceso.</a:t>
            </a:r>
            <a:endParaRPr lang="es-ES" dirty="0"/>
          </a:p>
          <a:p>
            <a:pPr marL="342900" indent="-342900" algn="just">
              <a:buFont typeface="+mj-lt"/>
              <a:buAutoNum type="arabicPeriod"/>
              <a:defRPr/>
            </a:pPr>
            <a:endParaRPr lang="es-ES" dirty="0" smtClean="0">
              <a:ea typeface="ＭＳ Ｐゴシック" pitchFamily="34" charset="-128"/>
            </a:endParaRPr>
          </a:p>
          <a:p>
            <a:pPr marL="342900" indent="-342900" algn="just">
              <a:buFont typeface="+mj-lt"/>
              <a:buAutoNum type="arabicPeriod"/>
              <a:defRPr/>
            </a:pPr>
            <a:endParaRPr lang="es-ES" dirty="0" smtClean="0">
              <a:ea typeface="ＭＳ Ｐゴシック" pitchFamily="34" charset="-128"/>
            </a:endParaRPr>
          </a:p>
          <a:p>
            <a:pPr marL="342900" indent="-342900" algn="just">
              <a:buFont typeface="+mj-lt"/>
              <a:buAutoNum type="arabicPeriod"/>
              <a:defRPr/>
            </a:pPr>
            <a:endParaRPr lang="es-ES" dirty="0" smtClean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919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1237558" y="1547387"/>
            <a:ext cx="66251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s-ES" sz="2800" b="1" dirty="0" smtClean="0">
                <a:solidFill>
                  <a:srgbClr val="C00000"/>
                </a:solidFill>
              </a:rPr>
              <a:t>PROCESO PARA DÉBITO DE DOMICILIACIÓN</a:t>
            </a:r>
            <a:endParaRPr lang="es-VE" sz="2800" b="1" dirty="0">
              <a:solidFill>
                <a:srgbClr val="C00000"/>
              </a:solidFill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449246" y="2717941"/>
            <a:ext cx="83289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s-ES" dirty="0" smtClean="0">
                <a:ea typeface="ＭＳ Ｐゴシック" pitchFamily="34" charset="-128"/>
              </a:rPr>
              <a:t>3. El </a:t>
            </a:r>
            <a:r>
              <a:rPr lang="es-ES" dirty="0">
                <a:ea typeface="ＭＳ Ｐゴシック" pitchFamily="34" charset="-128"/>
              </a:rPr>
              <a:t>analista recibe la información, luego de su recepción emite correo con respuesta de su solicitud donde indica si el TXT posee error, o en su efecto se encuentra bien </a:t>
            </a:r>
            <a:r>
              <a:rPr lang="es-ES" dirty="0" smtClean="0">
                <a:ea typeface="ＭＳ Ｐゴシック" pitchFamily="34" charset="-128"/>
              </a:rPr>
              <a:t>elaborado.</a:t>
            </a:r>
          </a:p>
          <a:p>
            <a:pPr algn="just">
              <a:defRPr/>
            </a:pPr>
            <a:r>
              <a:rPr lang="es-ES" dirty="0" smtClean="0">
                <a:ea typeface="ＭＳ Ｐゴシック" pitchFamily="34" charset="-128"/>
              </a:rPr>
              <a:t>4. En </a:t>
            </a:r>
            <a:r>
              <a:rPr lang="es-ES" dirty="0">
                <a:ea typeface="ＭＳ Ｐゴシック" pitchFamily="34" charset="-128"/>
              </a:rPr>
              <a:t>caso que el archivo posea error, se envía respuesta indicando el Status del mismo, el personal de agencia debe remitir información al ente o empresa, para su respectiva modificación, después que la agencia reciba las correcciones del caso, deben reenviar al correo a </a:t>
            </a:r>
            <a:r>
              <a:rPr lang="es-ES" dirty="0" smtClean="0">
                <a:ea typeface="ＭＳ Ｐゴシック" pitchFamily="34" charset="-128"/>
                <a:hlinkClick r:id="rId2"/>
              </a:rPr>
              <a:t>domiciliaciones.pagos@bicentenariobu.com </a:t>
            </a:r>
            <a:r>
              <a:rPr lang="es-ES" dirty="0">
                <a:ea typeface="ＭＳ Ｐゴシック" pitchFamily="34" charset="-128"/>
              </a:rPr>
              <a:t>, y así procesar de nuevo la solicitud.</a:t>
            </a:r>
          </a:p>
          <a:p>
            <a:pPr algn="just">
              <a:defRPr/>
            </a:pPr>
            <a:r>
              <a:rPr lang="es-ES" dirty="0" smtClean="0">
                <a:ea typeface="ＭＳ Ｐゴシック" pitchFamily="34" charset="-128"/>
              </a:rPr>
              <a:t>5. El </a:t>
            </a:r>
            <a:r>
              <a:rPr lang="es-ES" dirty="0">
                <a:ea typeface="ＭＳ Ｐゴシック" pitchFamily="34" charset="-128"/>
              </a:rPr>
              <a:t>analista al recibir nuevamente la información, procesa su solicitud, y envía correo de respuesta, y reportes de la cobranza </a:t>
            </a:r>
            <a:r>
              <a:rPr lang="es-ES" dirty="0" smtClean="0">
                <a:ea typeface="ＭＳ Ｐゴシック" pitchFamily="34" charset="-128"/>
              </a:rPr>
              <a:t>efectuada.</a:t>
            </a:r>
            <a:endParaRPr lang="es-E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242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/>
          <p:cNvSpPr txBox="1">
            <a:spLocks noChangeArrowheads="1"/>
          </p:cNvSpPr>
          <p:nvPr/>
        </p:nvSpPr>
        <p:spPr bwMode="auto">
          <a:xfrm>
            <a:off x="5179861" y="1369695"/>
            <a:ext cx="369728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r" eaLnBrk="1" hangingPunct="1"/>
            <a:r>
              <a:rPr lang="es-VE" sz="1400" b="1" dirty="0">
                <a:latin typeface="Arial" pitchFamily="34" charset="0"/>
                <a:cs typeface="Arial" pitchFamily="34" charset="0"/>
              </a:rPr>
              <a:t>Vicepresidencia de Operaciones</a:t>
            </a:r>
          </a:p>
          <a:p>
            <a:pPr algn="r" eaLnBrk="1" hangingPunct="1"/>
            <a:r>
              <a:rPr lang="es-VE" sz="1400" b="1" dirty="0">
                <a:latin typeface="Arial" pitchFamily="34" charset="0"/>
                <a:cs typeface="Arial" pitchFamily="34" charset="0"/>
              </a:rPr>
              <a:t>Gerencia de Área Operaciones Bancarias</a:t>
            </a:r>
          </a:p>
          <a:p>
            <a:pPr algn="r" eaLnBrk="1" hangingPunct="1"/>
            <a:r>
              <a:rPr lang="es-VE" sz="1400" b="1" dirty="0">
                <a:latin typeface="Arial" pitchFamily="34" charset="0"/>
                <a:cs typeface="Arial" pitchFamily="34" charset="0"/>
              </a:rPr>
              <a:t>Gerencia de Abonos Masivos</a:t>
            </a:r>
          </a:p>
        </p:txBody>
      </p:sp>
      <p:sp>
        <p:nvSpPr>
          <p:cNvPr id="5" name="5 Rectángulo"/>
          <p:cNvSpPr>
            <a:spLocks noChangeArrowheads="1"/>
          </p:cNvSpPr>
          <p:nvPr/>
        </p:nvSpPr>
        <p:spPr bwMode="auto">
          <a:xfrm>
            <a:off x="693738" y="2025908"/>
            <a:ext cx="7877768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600" b="1" dirty="0"/>
              <a:t>Gerente de Área Operaciones Bancarias</a:t>
            </a:r>
          </a:p>
          <a:p>
            <a:pPr>
              <a:defRPr/>
            </a:pPr>
            <a:r>
              <a:rPr lang="es-MX" sz="1600" dirty="0"/>
              <a:t>Jose Luis Chirinos: </a:t>
            </a:r>
            <a:r>
              <a:rPr lang="es-MX" sz="1600" b="1" i="1" u="sng" dirty="0">
                <a:solidFill>
                  <a:srgbClr val="0070C0"/>
                </a:solidFill>
                <a:hlinkClick r:id="rId2"/>
              </a:rPr>
              <a:t>jose.chirinos@bicentenariobu.com</a:t>
            </a:r>
            <a:r>
              <a:rPr lang="es-MX" sz="1600" u="sng" dirty="0">
                <a:solidFill>
                  <a:srgbClr val="0070C0"/>
                </a:solidFill>
              </a:rPr>
              <a:t> </a:t>
            </a:r>
            <a:endParaRPr lang="es-MX" sz="1600" dirty="0">
              <a:solidFill>
                <a:srgbClr val="0070C0"/>
              </a:solidFill>
            </a:endParaRPr>
          </a:p>
          <a:p>
            <a:pPr>
              <a:defRPr/>
            </a:pPr>
            <a:r>
              <a:rPr lang="es-MX" sz="1600" u="sng" dirty="0"/>
              <a:t>Teléfonos : 0212-958-5636</a:t>
            </a:r>
            <a:endParaRPr lang="es-MX" sz="1600" dirty="0"/>
          </a:p>
          <a:p>
            <a:pPr>
              <a:defRPr/>
            </a:pPr>
            <a:endParaRPr lang="es-MX" sz="1600" b="1" dirty="0"/>
          </a:p>
          <a:p>
            <a:pPr>
              <a:defRPr/>
            </a:pPr>
            <a:r>
              <a:rPr lang="es-MX" sz="1600" b="1" dirty="0"/>
              <a:t>Gerente </a:t>
            </a:r>
            <a:r>
              <a:rPr lang="es-MX" sz="1600" b="1" dirty="0" smtClean="0"/>
              <a:t>Abonos Masivos</a:t>
            </a:r>
            <a:endParaRPr lang="es-MX" sz="1600" b="1" dirty="0"/>
          </a:p>
          <a:p>
            <a:pPr>
              <a:defRPr/>
            </a:pPr>
            <a:r>
              <a:rPr lang="es-MX" sz="1600" dirty="0"/>
              <a:t>Karina Salas </a:t>
            </a:r>
            <a:r>
              <a:rPr lang="es-MX" sz="1600" b="1" i="1" u="sng" dirty="0">
                <a:solidFill>
                  <a:schemeClr val="accent1">
                    <a:lumMod val="75000"/>
                  </a:schemeClr>
                </a:solidFill>
                <a:hlinkClick r:id="rId3"/>
              </a:rPr>
              <a:t>karina.salas@bicentenariobu.com</a:t>
            </a:r>
            <a:r>
              <a:rPr lang="es-MX" sz="1600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>
              <a:defRPr/>
            </a:pPr>
            <a:r>
              <a:rPr lang="es-MX" sz="1600" u="sng" dirty="0"/>
              <a:t>Teléfonos : 0212-958-5970</a:t>
            </a:r>
            <a:endParaRPr lang="es-MX" sz="1600" dirty="0"/>
          </a:p>
          <a:p>
            <a:pPr>
              <a:defRPr/>
            </a:pPr>
            <a:endParaRPr lang="es-MX" sz="1600" dirty="0"/>
          </a:p>
          <a:p>
            <a:pPr>
              <a:defRPr/>
            </a:pPr>
            <a:r>
              <a:rPr lang="es-MX" sz="1600" b="1" dirty="0"/>
              <a:t>Coordinador</a:t>
            </a:r>
          </a:p>
          <a:p>
            <a:pPr>
              <a:defRPr/>
            </a:pPr>
            <a:r>
              <a:rPr lang="es-MX" sz="1600" dirty="0" smtClean="0"/>
              <a:t>María Santaella </a:t>
            </a:r>
            <a:r>
              <a:rPr lang="es-MX" sz="1600" b="1" i="1" u="sng" dirty="0" smtClean="0">
                <a:solidFill>
                  <a:schemeClr val="accent1">
                    <a:lumMod val="75000"/>
                  </a:schemeClr>
                </a:solidFill>
                <a:hlinkClick r:id="rId4"/>
              </a:rPr>
              <a:t>maria.santaella@bicentenariobu.com</a:t>
            </a:r>
            <a:r>
              <a:rPr lang="es-MX" sz="1600" u="sng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s-MX" sz="1600" u="sng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defRPr/>
            </a:pPr>
            <a:r>
              <a:rPr lang="es-MX" sz="1600" u="sng" dirty="0"/>
              <a:t>Teléfonos : </a:t>
            </a:r>
            <a:r>
              <a:rPr lang="es-MX" sz="1600" u="sng" dirty="0" smtClean="0"/>
              <a:t>0212-958-5609</a:t>
            </a:r>
          </a:p>
          <a:p>
            <a:pPr>
              <a:defRPr/>
            </a:pPr>
            <a:endParaRPr lang="es-MX" sz="1600" u="sng" dirty="0"/>
          </a:p>
          <a:p>
            <a:pPr>
              <a:defRPr/>
            </a:pPr>
            <a:r>
              <a:rPr lang="es-MX" sz="1600" b="1" dirty="0"/>
              <a:t>Buzón de Atención Para </a:t>
            </a:r>
            <a:r>
              <a:rPr lang="es-MX" sz="1600" b="1" dirty="0" smtClean="0"/>
              <a:t>Afiliación del Servicio y envío de Documentación</a:t>
            </a:r>
            <a:endParaRPr lang="es-MX" sz="1600" b="1" dirty="0"/>
          </a:p>
          <a:p>
            <a:pPr>
              <a:defRPr/>
            </a:pPr>
            <a:r>
              <a:rPr lang="es-MX" sz="1600" b="1" i="1" u="sng" dirty="0">
                <a:hlinkClick r:id="rId5"/>
              </a:rPr>
              <a:t>s</a:t>
            </a:r>
            <a:r>
              <a:rPr lang="es-MX" sz="1600" b="1" i="1" u="sng" dirty="0" smtClean="0">
                <a:hlinkClick r:id="rId5"/>
              </a:rPr>
              <a:t>ervicios.nominas@bicentenariobu.com</a:t>
            </a:r>
            <a:r>
              <a:rPr lang="es-MX" sz="1600" u="sng" dirty="0" smtClean="0"/>
              <a:t> </a:t>
            </a:r>
            <a:r>
              <a:rPr lang="es-MX" sz="1600" u="sng" dirty="0" smtClean="0">
                <a:hlinkClick r:id="rId6"/>
              </a:rPr>
              <a:t> </a:t>
            </a:r>
            <a:endParaRPr lang="es-MX" sz="1600" u="sng" dirty="0"/>
          </a:p>
          <a:p>
            <a:pPr>
              <a:defRPr/>
            </a:pPr>
            <a:endParaRPr lang="es-MX" sz="1600" u="sng" dirty="0"/>
          </a:p>
          <a:p>
            <a:pPr>
              <a:defRPr/>
            </a:pPr>
            <a:r>
              <a:rPr lang="es-MX" sz="1600" b="1" dirty="0" smtClean="0"/>
              <a:t>Buzón </a:t>
            </a:r>
            <a:r>
              <a:rPr lang="es-MX" sz="1600" b="1" dirty="0"/>
              <a:t>de </a:t>
            </a:r>
            <a:r>
              <a:rPr lang="es-MX" sz="1600" b="1" dirty="0" smtClean="0"/>
              <a:t>Atención Para procesar pago</a:t>
            </a:r>
            <a:endParaRPr lang="es-MX" sz="1600" b="1" dirty="0"/>
          </a:p>
          <a:p>
            <a:pPr>
              <a:defRPr/>
            </a:pPr>
            <a:r>
              <a:rPr lang="es-MX" sz="1600" b="1" i="1" u="sng" dirty="0" smtClean="0">
                <a:hlinkClick r:id="rId7"/>
              </a:rPr>
              <a:t>domiciliaciones.pagos@bicentenariobu.com</a:t>
            </a:r>
            <a:r>
              <a:rPr lang="es-MX" sz="1600" u="sng" dirty="0" smtClean="0"/>
              <a:t> </a:t>
            </a:r>
            <a:r>
              <a:rPr lang="es-MX" sz="1600" u="sng" dirty="0" smtClean="0">
                <a:hlinkClick r:id="rId6"/>
              </a:rPr>
              <a:t> </a:t>
            </a:r>
            <a:endParaRPr lang="es-MX" sz="1600" u="sng" dirty="0"/>
          </a:p>
          <a:p>
            <a:pPr>
              <a:defRPr/>
            </a:pPr>
            <a:endParaRPr lang="es-MX" u="sng" dirty="0"/>
          </a:p>
          <a:p>
            <a:pPr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889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785</Words>
  <Application>Microsoft Office PowerPoint</Application>
  <PresentationFormat>Presentación en pantalla (4:3)</PresentationFormat>
  <Paragraphs>108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Tema de Office</vt:lpstr>
      <vt:lpstr>Diseño personalizado</vt:lpstr>
      <vt:lpstr>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Adrian Aranguren</dc:creator>
  <cp:lastModifiedBy>Holidey C. Gonzalez I</cp:lastModifiedBy>
  <cp:revision>71</cp:revision>
  <dcterms:created xsi:type="dcterms:W3CDTF">2016-06-20T13:17:27Z</dcterms:created>
  <dcterms:modified xsi:type="dcterms:W3CDTF">2021-04-29T13:29:02Z</dcterms:modified>
</cp:coreProperties>
</file>